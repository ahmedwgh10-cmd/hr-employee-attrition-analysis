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F7C86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BF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C8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9B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9B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29B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09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4A09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4A09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4A09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Company average</c:v>
                  </c:pt>
                  <c:pt idx="1">
                    <c:v>Frequent travel</c:v>
                  </c:pt>
                  <c:pt idx="2">
                    <c:v>Under 30</c:v>
                  </c:pt>
                  <c:pt idx="3">
                    <c:v>Income under $3K</c:v>
                  </c:pt>
                  <c:pt idx="4">
                    <c:v>Overtime</c:v>
                  </c:pt>
                  <c:pt idx="5">
                    <c:v>First year (0-1 yr)</c:v>
                  </c:pt>
                  <c:pt idx="6">
                    <c:v>Sales Representatives</c:v>
                  </c:pt>
                  <c:pt idx="7">
                    <c:v>Single + overtime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16.1</c:v>
                </c:pt>
                <c:pt idx="1">
                  <c:v>24.9</c:v>
                </c:pt>
                <c:pt idx="2">
                  <c:v>27.9</c:v>
                </c:pt>
                <c:pt idx="3">
                  <c:v>28.6</c:v>
                </c:pt>
                <c:pt idx="4">
                  <c:v>30.5</c:v>
                </c:pt>
                <c:pt idx="5">
                  <c:v>34.9</c:v>
                </c:pt>
                <c:pt idx="6">
                  <c:v>39.8</c:v>
                </c:pt>
                <c:pt idx="7">
                  <c:v>49.6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4FBF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4FBF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Add each member’s role once the team confirms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company lost 237 of 1,470 employees. HR needs to know where to act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row per employee. Source: IBM HR Analytics Employee Attrition &amp; Performance (Kaggle), fictional data. 32 columns, no missing values or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exact Power Query steps here once the team confirms them (types, duplicates, missing values, renames).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Star-style model. Add relationship keys and cardinality from Model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Attrition rate = employees who left divided by total employees, for whatever group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pages with the navigation buttons. Update the screenshot if the dashboard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+ overtime is the highest-risk segment at 49.6%. Small groups: Sales Rep n=83, single+overtime n=131.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Recommendations come from the Insights page. Limitations are listed in the Project Booklet.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value of the dashboard: HR can now see where attrition is concentrated and act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2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2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182880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457200"/>
            <a:ext cx="182880" cy="182880"/>
          </a:xfrm>
          <a:prstGeom prst="ellipse">
            <a:avLst/>
          </a:prstGeom>
          <a:solidFill>
            <a:srgbClr val="F4A09C"/>
          </a:solidFill>
          <a:ln w="12700">
            <a:solidFill>
              <a:srgbClr val="F4A09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457200"/>
            <a:ext cx="182880" cy="182880"/>
          </a:xfrm>
          <a:prstGeom prst="ellipse">
            <a:avLst/>
          </a:prstGeom>
          <a:solidFill>
            <a:srgbClr val="A29BC4"/>
          </a:solidFill>
          <a:ln w="12700">
            <a:solidFill>
              <a:srgbClr val="A29B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57200"/>
            <a:ext cx="182880" cy="182880"/>
          </a:xfrm>
          <a:prstGeom prst="ellipse">
            <a:avLst/>
          </a:prstGeom>
          <a:solidFill>
            <a:srgbClr val="F7C86A"/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Attrition &amp; Retention Dashboard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employees leave, and which groups are most at risk</a:t>
            </a:r>
            <a:endParaRPr lang="en-US" sz="1600" dirty="0"/>
          </a:p>
        </p:txBody>
      </p:sp>
      <p:sp>
        <p:nvSpPr>
          <p:cNvPr id="9" name="team card"/>
          <p:cNvSpPr/>
          <p:nvPr/>
        </p:nvSpPr>
        <p:spPr>
          <a:xfrm>
            <a:off x="548640" y="3520440"/>
            <a:ext cx="8046720" cy="1005840"/>
          </a:xfrm>
          <a:prstGeom prst="roundRect">
            <a:avLst>
              <a:gd name="adj" fmla="val 1090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Hany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Samy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DAX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Haneen Tarek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Arsany Hany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QA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Alzahraa Hassan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41605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and objectives</a:t>
            </a:r>
            <a:endParaRPr lang="en-US" sz="3000" dirty="0"/>
          </a:p>
        </p:txBody>
      </p:sp>
      <p:sp>
        <p:nvSpPr>
          <p:cNvPr id="4" name="stat card"/>
          <p:cNvSpPr/>
          <p:nvPr/>
        </p:nvSpPr>
        <p:spPr>
          <a:xfrm>
            <a:off x="457200" y="118872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280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331720" y="12801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457200" y="228600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377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9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23774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457200" y="3383280"/>
            <a:ext cx="3291840" cy="960120"/>
          </a:xfrm>
          <a:prstGeom prst="roundRect">
            <a:avLst>
              <a:gd name="adj" fmla="val 1142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474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16.12%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347472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206240" y="1188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HR needs answered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206240" y="1691640"/>
            <a:ext cx="411480" cy="411480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06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employee groups leave the most?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206240" y="2423160"/>
            <a:ext cx="411480" cy="411480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0624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488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attrition: overtime, pay, tenure, travel, age, marital status?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206240" y="3154680"/>
            <a:ext cx="411480" cy="411480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062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75488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and job roles are hit hardest?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206240" y="3886200"/>
            <a:ext cx="411480" cy="411480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062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75488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actions can reduce attrition?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ize card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A8E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each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74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file: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HR_Employee_Attrition_Cleaned</a:t>
            </a:r>
            <a:endParaRPr lang="en-US" sz="1200" dirty="0"/>
          </a:p>
        </p:txBody>
      </p:sp>
      <p:sp>
        <p:nvSpPr>
          <p:cNvPr id="8" name="field card"/>
          <p:cNvSpPr/>
          <p:nvPr/>
        </p:nvSpPr>
        <p:spPr>
          <a:xfrm>
            <a:off x="3383280" y="118872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371600"/>
            <a:ext cx="201168" cy="201168"/>
          </a:xfrm>
          <a:prstGeom prst="ellipse">
            <a:avLst/>
          </a:prstGeom>
          <a:solidFill>
            <a:srgbClr val="A29BC4"/>
          </a:solidFill>
          <a:ln w="12700">
            <a:solidFill>
              <a:srgbClr val="A29B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8620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gender, marital status, education</a:t>
            </a:r>
            <a:endParaRPr lang="en-US" sz="1200" dirty="0"/>
          </a:p>
        </p:txBody>
      </p:sp>
      <p:sp>
        <p:nvSpPr>
          <p:cNvPr id="12" name="field card"/>
          <p:cNvSpPr/>
          <p:nvPr/>
        </p:nvSpPr>
        <p:spPr>
          <a:xfrm>
            <a:off x="6126480" y="118872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371600"/>
            <a:ext cx="201168" cy="201168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job role, job level</a:t>
            </a:r>
            <a:endParaRPr lang="en-US" sz="1200" dirty="0"/>
          </a:p>
        </p:txBody>
      </p:sp>
      <p:sp>
        <p:nvSpPr>
          <p:cNvPr id="16" name="field card"/>
          <p:cNvSpPr/>
          <p:nvPr/>
        </p:nvSpPr>
        <p:spPr>
          <a:xfrm>
            <a:off x="3383280" y="2350008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66160" y="2532888"/>
            <a:ext cx="201168" cy="201168"/>
          </a:xfrm>
          <a:prstGeom prst="ellipse">
            <a:avLst/>
          </a:prstGeom>
          <a:solidFill>
            <a:srgbClr val="F7C86A"/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8620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income, stock options</a:t>
            </a:r>
            <a:endParaRPr lang="en-US" sz="1200" dirty="0"/>
          </a:p>
        </p:txBody>
      </p:sp>
      <p:sp>
        <p:nvSpPr>
          <p:cNvPr id="20" name="field card"/>
          <p:cNvSpPr/>
          <p:nvPr/>
        </p:nvSpPr>
        <p:spPr>
          <a:xfrm>
            <a:off x="6126480" y="2350008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09360" y="2532888"/>
            <a:ext cx="201168" cy="201168"/>
          </a:xfrm>
          <a:prstGeom prst="ellipse">
            <a:avLst/>
          </a:prstGeom>
          <a:solidFill>
            <a:srgbClr val="F4A09C"/>
          </a:solidFill>
          <a:ln w="12700">
            <a:solidFill>
              <a:srgbClr val="F4A09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2940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conditions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2852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business travel, job satisfaction</a:t>
            </a:r>
            <a:endParaRPr lang="en-US" sz="1200" dirty="0"/>
          </a:p>
        </p:txBody>
      </p:sp>
      <p:sp>
        <p:nvSpPr>
          <p:cNvPr id="24" name="field card"/>
          <p:cNvSpPr/>
          <p:nvPr/>
        </p:nvSpPr>
        <p:spPr>
          <a:xfrm>
            <a:off x="3383280" y="3511296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66160" y="3694176"/>
            <a:ext cx="201168" cy="201168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88620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&amp; career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3566160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at company, last promotion, companies worked</a:t>
            </a:r>
            <a:endParaRPr lang="en-US" sz="1200" dirty="0"/>
          </a:p>
        </p:txBody>
      </p:sp>
      <p:sp>
        <p:nvSpPr>
          <p:cNvPr id="28" name="field card"/>
          <p:cNvSpPr/>
          <p:nvPr/>
        </p:nvSpPr>
        <p:spPr>
          <a:xfrm>
            <a:off x="6126480" y="3511296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09360" y="3694176"/>
            <a:ext cx="201168" cy="201168"/>
          </a:xfrm>
          <a:prstGeom prst="ellipse">
            <a:avLst/>
          </a:prstGeom>
          <a:solidFill>
            <a:srgbClr val="F4A09C"/>
          </a:solidFill>
          <a:ln w="12700">
            <a:solidFill>
              <a:srgbClr val="F4A09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29400" y="3648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4014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status: Left or Stayed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 for analysis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in Power Query, then grouped into bands so patterns are easy to compare</a:t>
            </a:r>
            <a:endParaRPr lang="en-US" sz="1600" dirty="0"/>
          </a:p>
        </p:txBody>
      </p:sp>
      <p:sp>
        <p:nvSpPr>
          <p:cNvPr id="5" name="band card"/>
          <p:cNvSpPr/>
          <p:nvPr/>
        </p:nvSpPr>
        <p:spPr>
          <a:xfrm>
            <a:off x="457200" y="16459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2402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542032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5420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30-39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843784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84378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40-49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145536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14553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200" dirty="0"/>
          </a:p>
        </p:txBody>
      </p:sp>
      <p:sp>
        <p:nvSpPr>
          <p:cNvPr id="15" name="band card"/>
          <p:cNvSpPr/>
          <p:nvPr/>
        </p:nvSpPr>
        <p:spPr>
          <a:xfrm>
            <a:off x="2560320" y="16459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432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band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2743200" y="2240280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43200" y="22402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0" y="2542032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743200" y="25420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3K-6K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743200" y="2843784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43200" y="284378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6K-10K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0" y="3145536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43200" y="314553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1200" dirty="0"/>
          </a:p>
        </p:txBody>
      </p:sp>
      <p:sp>
        <p:nvSpPr>
          <p:cNvPr id="25" name="band card"/>
          <p:cNvSpPr/>
          <p:nvPr/>
        </p:nvSpPr>
        <p:spPr>
          <a:xfrm>
            <a:off x="4663440" y="16459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846320" y="2240280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46320" y="22402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yrs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846320" y="2542032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46320" y="25420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yrs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846320" y="2843784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46320" y="284378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yrs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846320" y="3145536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46320" y="314553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yrs</a:t>
            </a:r>
            <a:endParaRPr lang="en-US" sz="1200" dirty="0"/>
          </a:p>
        </p:txBody>
      </p:sp>
      <p:sp>
        <p:nvSpPr>
          <p:cNvPr id="35" name="band card"/>
          <p:cNvSpPr/>
          <p:nvPr/>
        </p:nvSpPr>
        <p:spPr>
          <a:xfrm>
            <a:off x="6766560" y="164592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9494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promotion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949440" y="2240280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49440" y="22402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949440" y="2542032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49440" y="25420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949440" y="2843784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949440" y="284378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949440" y="3145536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949440" y="314553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949440" y="3447288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949440" y="344728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6949440" y="3749040"/>
            <a:ext cx="1600200" cy="246888"/>
          </a:xfrm>
          <a:prstGeom prst="roundRect">
            <a:avLst>
              <a:gd name="adj" fmla="val 37037"/>
            </a:avLst>
          </a:prstGeom>
          <a:solidFill>
            <a:srgbClr val="0F2F2B"/>
          </a:solidFill>
          <a:ln w="12700">
            <a:solidFill>
              <a:srgbClr val="0F2F2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949440" y="374904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stored as Left / Stayed  ·  codes labeled (e.g. Job Satisfaction 1 – Low to 4 – Very High)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2926080" y="2377440"/>
            <a:ext cx="822960" cy="0"/>
          </a:xfrm>
          <a:prstGeom prst="line">
            <a:avLst/>
          </a:prstGeom>
          <a:noFill/>
          <a:ln w="25400">
            <a:solidFill>
              <a:srgbClr val="A8E6C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94960" y="2377440"/>
            <a:ext cx="822960" cy="0"/>
          </a:xfrm>
          <a:prstGeom prst="line">
            <a:avLst/>
          </a:prstGeom>
          <a:noFill/>
          <a:ln w="25400">
            <a:solidFill>
              <a:srgbClr val="A8E6CF"/>
            </a:solidFill>
            <a:prstDash val="dash"/>
          </a:ln>
        </p:spPr>
      </p:sp>
      <p:sp>
        <p:nvSpPr>
          <p:cNvPr id="6" name="Dim_Job"/>
          <p:cNvSpPr/>
          <p:nvPr/>
        </p:nvSpPr>
        <p:spPr>
          <a:xfrm>
            <a:off x="457200" y="155448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7413B"/>
          </a:solidFill>
          <a:ln w="25400">
            <a:solidFill>
              <a:srgbClr val="A29B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Dim_Job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job role, job level</a:t>
            </a:r>
            <a:endParaRPr lang="en-US" sz="1200" dirty="0"/>
          </a:p>
        </p:txBody>
      </p:sp>
      <p:sp>
        <p:nvSpPr>
          <p:cNvPr id="9" name="Fact_Employee"/>
          <p:cNvSpPr/>
          <p:nvPr/>
        </p:nvSpPr>
        <p:spPr>
          <a:xfrm>
            <a:off x="3749040" y="1371600"/>
            <a:ext cx="1645920" cy="2011680"/>
          </a:xfrm>
          <a:prstGeom prst="roundRect">
            <a:avLst>
              <a:gd name="adj" fmla="val 6667"/>
            </a:avLst>
          </a:prstGeom>
          <a:solidFill>
            <a:srgbClr val="17413B"/>
          </a:solidFill>
          <a:ln w="25400">
            <a:solidFill>
              <a:srgbClr val="A8E6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Fact_Employee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886200" y="1920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employee: demographics, income, tenure, attrition</a:t>
            </a:r>
            <a:endParaRPr lang="en-US" sz="1200" dirty="0"/>
          </a:p>
        </p:txBody>
      </p:sp>
      <p:sp>
        <p:nvSpPr>
          <p:cNvPr id="12" name="Measures_HR"/>
          <p:cNvSpPr/>
          <p:nvPr/>
        </p:nvSpPr>
        <p:spPr>
          <a:xfrm>
            <a:off x="6217920" y="155448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17413B"/>
          </a:solidFill>
          <a:ln w="25400">
            <a:solidFill>
              <a:srgbClr val="F7C8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Measures_HR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1031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DAX measures</a:t>
            </a:r>
            <a:endParaRPr lang="en-US" sz="1200" dirty="0"/>
          </a:p>
        </p:txBody>
      </p:sp>
      <p:sp>
        <p:nvSpPr>
          <p:cNvPr id="15" name="Progress Axis"/>
          <p:cNvSpPr/>
          <p:nvPr/>
        </p:nvSpPr>
        <p:spPr>
          <a:xfrm>
            <a:off x="3749040" y="365760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17413B"/>
          </a:solidFill>
          <a:ln w="25400">
            <a:solidFill>
              <a:srgbClr val="F4A09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379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Axis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8862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table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0" y="3383280"/>
            <a:ext cx="0" cy="274320"/>
          </a:xfrm>
          <a:prstGeom prst="line">
            <a:avLst/>
          </a:prstGeom>
          <a:noFill/>
          <a:ln w="25400">
            <a:solidFill>
              <a:srgbClr val="A8E6CF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and KPIs</a:t>
            </a:r>
            <a:endParaRPr lang="en-US" sz="3000" dirty="0"/>
          </a:p>
        </p:txBody>
      </p:sp>
      <p:sp>
        <p:nvSpPr>
          <p:cNvPr id="4" name="kpi card"/>
          <p:cNvSpPr/>
          <p:nvPr/>
        </p:nvSpPr>
        <p:spPr>
          <a:xfrm>
            <a:off x="45720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29B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300" dirty="0"/>
          </a:p>
        </p:txBody>
      </p:sp>
      <p:sp>
        <p:nvSpPr>
          <p:cNvPr id="7" name="kpi card"/>
          <p:cNvSpPr/>
          <p:nvPr/>
        </p:nvSpPr>
        <p:spPr>
          <a:xfrm>
            <a:off x="324612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E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1,233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</a:t>
            </a:r>
            <a:endParaRPr lang="en-US" sz="1300" dirty="0"/>
          </a:p>
        </p:txBody>
      </p:sp>
      <p:sp>
        <p:nvSpPr>
          <p:cNvPr id="10" name="kpi card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371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16.12%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= Left ÷ Total</a:t>
            </a:r>
            <a:endParaRPr lang="en-US" sz="1300" dirty="0"/>
          </a:p>
        </p:txBody>
      </p:sp>
      <p:sp>
        <p:nvSpPr>
          <p:cNvPr id="13" name="kpi card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E6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83.9%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 = Active ÷ Total</a:t>
            </a:r>
            <a:endParaRPr lang="en-US" sz="1300" dirty="0"/>
          </a:p>
        </p:txBody>
      </p:sp>
      <p:sp>
        <p:nvSpPr>
          <p:cNvPr id="16" name="kpi card"/>
          <p:cNvSpPr/>
          <p:nvPr/>
        </p:nvSpPr>
        <p:spPr>
          <a:xfrm>
            <a:off x="324612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2900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C8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$6,503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Income</a:t>
            </a:r>
            <a:endParaRPr lang="en-US" sz="1300" dirty="0"/>
          </a:p>
        </p:txBody>
      </p:sp>
      <p:sp>
        <p:nvSpPr>
          <p:cNvPr id="19" name="kpi card"/>
          <p:cNvSpPr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108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0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30.5%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Attrition Rate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pic>
        <p:nvPicPr>
          <p:cNvPr id="4" name="Overview page screenshot" descr="ov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394960" cy="309223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page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6126480" y="1188720"/>
            <a:ext cx="292608" cy="292608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12648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537960" y="1161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537960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job level, department, age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1737360"/>
            <a:ext cx="292608" cy="292608"/>
          </a:xfrm>
          <a:prstGeom prst="ellipse">
            <a:avLst/>
          </a:prstGeom>
          <a:solidFill>
            <a:srgbClr val="F4A09C"/>
          </a:solidFill>
          <a:ln w="12700">
            <a:solidFill>
              <a:srgbClr val="F4A09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264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537960" y="17099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1920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income, travel, marital, overtime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286000"/>
            <a:ext cx="292608" cy="292608"/>
          </a:xfrm>
          <a:prstGeom prst="ellipse">
            <a:avLst/>
          </a:prstGeom>
          <a:solidFill>
            <a:srgbClr val="F7C86A"/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26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22585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Pay, job role, stock options, satisfaction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2834640"/>
            <a:ext cx="292608" cy="292608"/>
          </a:xfrm>
          <a:prstGeom prst="ellipse">
            <a:avLst/>
          </a:prstGeom>
          <a:solidFill>
            <a:srgbClr val="A29BC4"/>
          </a:solidFill>
          <a:ln w="12700">
            <a:solidFill>
              <a:srgbClr val="A29BC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1264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537960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537960" y="3017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Years, promotions, companies worked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26480" y="3383280"/>
            <a:ext cx="292608" cy="292608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1264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33558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3566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by role, age, gender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126480" y="3931920"/>
            <a:ext cx="292608" cy="292608"/>
          </a:xfrm>
          <a:prstGeom prst="ellipse">
            <a:avLst/>
          </a:prstGeom>
          <a:solidFill>
            <a:srgbClr val="F4A09C"/>
          </a:solidFill>
          <a:ln w="12700">
            <a:solidFill>
              <a:srgbClr val="F4A09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2648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537960" y="3904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6537960" y="41148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findings with actions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leaves: attrition by group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insight card"/>
          <p:cNvSpPr/>
          <p:nvPr/>
        </p:nvSpPr>
        <p:spPr>
          <a:xfrm>
            <a:off x="6309360" y="1188720"/>
            <a:ext cx="2377440" cy="3383280"/>
          </a:xfrm>
          <a:prstGeom prst="roundRect">
            <a:avLst>
              <a:gd name="adj" fmla="val 4615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9224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workers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9224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staff but 54% of all leavers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9224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92240" y="30175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the exit rate of staff with 10+ years (34.9% vs 8.1%)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limitations</a:t>
            </a:r>
            <a:endParaRPr lang="en-US" sz="3000" dirty="0"/>
          </a:p>
        </p:txBody>
      </p:sp>
      <p:sp>
        <p:nvSpPr>
          <p:cNvPr id="4" name="recs card"/>
          <p:cNvSpPr/>
          <p:nvPr/>
        </p:nvSpPr>
        <p:spPr>
          <a:xfrm>
            <a:off x="457200" y="118872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onboarding in months 1-12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overtime and workloads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pay and career path for Sales Representatives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entry-level salaries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single + overtime staff first</a:t>
            </a:r>
            <a:endParaRPr lang="en-US" sz="1500" dirty="0"/>
          </a:p>
        </p:txBody>
      </p:sp>
      <p:sp>
        <p:nvSpPr>
          <p:cNvPr id="7" name="limits card"/>
          <p:cNvSpPr/>
          <p:nvPr/>
        </p:nvSpPr>
        <p:spPr>
          <a:xfrm>
            <a:off x="5212080" y="1188720"/>
            <a:ext cx="3474720" cy="3383280"/>
          </a:xfrm>
          <a:prstGeom prst="roundRect">
            <a:avLst>
              <a:gd name="adj" fmla="val 3243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4068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178308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snapshot, no trend over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association, not cause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groups: read with caution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recorded reason for leaving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4FB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akeaway card"/>
          <p:cNvSpPr/>
          <p:nvPr/>
        </p:nvSpPr>
        <p:spPr>
          <a:xfrm>
            <a:off x="457200" y="12801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F4A09C"/>
          </a:solidFill>
          <a:ln w="12700">
            <a:solidFill>
              <a:srgbClr val="F4A09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hires, overtime workers, low earners, under-30s and Sales Representatives leave most</a:t>
            </a:r>
            <a:endParaRPr lang="en-US" sz="1500" dirty="0"/>
          </a:p>
        </p:txBody>
      </p:sp>
      <p:sp>
        <p:nvSpPr>
          <p:cNvPr id="9" name="takeaway card"/>
          <p:cNvSpPr/>
          <p:nvPr/>
        </p:nvSpPr>
        <p:spPr>
          <a:xfrm>
            <a:off x="3246120" y="12801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rgbClr val="F7C86A"/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7C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working overtime lose about half of their people (49.6%)</a:t>
            </a:r>
            <a:endParaRPr lang="en-US" sz="1500" dirty="0"/>
          </a:p>
        </p:txBody>
      </p:sp>
      <p:sp>
        <p:nvSpPr>
          <p:cNvPr id="14" name="takeaway card"/>
          <p:cNvSpPr/>
          <p:nvPr/>
        </p:nvSpPr>
        <p:spPr>
          <a:xfrm>
            <a:off x="6035040" y="12801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17413B"/>
          </a:solidFill>
          <a:ln w="12700">
            <a:solidFill>
              <a:srgbClr val="17413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1508760"/>
            <a:ext cx="457200" cy="457200"/>
          </a:xfrm>
          <a:prstGeom prst="ellipse">
            <a:avLst/>
          </a:prstGeom>
          <a:solidFill>
            <a:srgbClr val="A8E6CF"/>
          </a:solidFill>
          <a:ln w="12700">
            <a:solidFill>
              <a:srgbClr val="A8E6C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next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onboarding, overtime and entry-level pay first, then track the dashboard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9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R Attrition Dark">
  <a:themeElements>
    <a:clrScheme name="HR Attrition Dark">
      <a:dk1>
        <a:srgbClr val="0F2F2B"/>
      </a:dk1>
      <a:lt1>
        <a:srgbClr val="F4FBF8"/>
      </a:lt1>
      <a:dk2>
        <a:srgbClr val="17413B"/>
      </a:dk2>
      <a:lt2>
        <a:srgbClr val="CFE9E0"/>
      </a:lt2>
      <a:accent1>
        <a:srgbClr val="A8E6CF"/>
      </a:accent1>
      <a:accent2>
        <a:srgbClr val="F4A09C"/>
      </a:accent2>
      <a:accent3>
        <a:srgbClr val="A29BC4"/>
      </a:accent3>
      <a:accent4>
        <a:srgbClr val="F7C86A"/>
      </a:accent4>
      <a:accent5>
        <a:srgbClr val="2F7D6B"/>
      </a:accent5>
      <a:accent6>
        <a:srgbClr val="8FB9AD"/>
      </a:accent6>
      <a:hlink>
        <a:srgbClr val="A8E6CF"/>
      </a:hlink>
      <a:folHlink>
        <a:srgbClr val="A29BC4"/>
      </a:folHlink>
    </a:clrScheme>
    <a:fontScheme name="HR Attrition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Employee Attrition &amp; Retention Dashboard</dc:title>
  <dc:subject>PptxGenJS Presentation</dc:subject>
  <dc:creator>HR Analytics Team</dc:creator>
  <cp:lastModifiedBy>HR Analytics Team</cp:lastModifiedBy>
  <cp:revision>1</cp:revision>
  <dcterms:created xsi:type="dcterms:W3CDTF">2026-10-19T19:35:21Z</dcterms:created>
  <dcterms:modified xsi:type="dcterms:W3CDTF">2026-10-19T19:35:21Z</dcterms:modified>
</cp:coreProperties>
</file>